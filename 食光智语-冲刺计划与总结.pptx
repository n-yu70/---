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30.svg" ContentType="image/svg+xml"/>
  <Override PartName="/ppt/media/image31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5.svg" ContentType="image/svg+xml"/>
  <Override PartName="/ppt/media/image66.svg" ContentType="image/svg+xml"/>
  <Override PartName="/ppt/media/image6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</p:sldMasterIdLst>
  <p:notesMasterIdLst>
    <p:notesMasterId r:id="rId6"/>
  </p:notesMasterIdLst>
  <p:sldIdLst>
    <p:sldId id="256" r:id="rId5"/>
    <p:sldId id="257" r:id="rId7"/>
    <p:sldId id="258" r:id="rId8"/>
    <p:sldId id="259" r:id="rId9"/>
    <p:sldId id="260" r:id="rId10"/>
    <p:sldId id="261" r:id="rId11"/>
    <p:sldId id="271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6858000" cy="9144000"/>
  <p:custDataLst>
    <p:tags r:id="rId24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64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64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4" Type="http://schemas.openxmlformats.org/officeDocument/2006/relationships/tags" Target="tags/tag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家好，我们是“食光智语”团队。今天非常荣幸能在这里向大家汇报我们项目的冲刺计划与总结。本次汇报将围绕项目的背景、冲刺目标、完成情况、技术架构以及未来展望展开。希望通过这次分享，能让大家对我们的“食光智语”项目有一个全面而深入的了解。</a:t>
            </a:r>
            <a:endParaRPr lang="en-US" sz="14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每个项目都有它的起点和转折点。我们的项目最初构想非常智能，希望通过拍照来自动记录饮食。但很快我们意识到，这个方向存在权限、技术和数据合规三大挑战。为了项目能健康、可持续地发展，我们做出了一个关键的战略调整：转向一条更安全、更合规的道路——基于手动记录和专业分析来开发我们的助手。这个转变是项目成功的基石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在冲刺开始前，我们对项目进行了全面复盘。我们已经完成了基础的架构搭建、UI布局和核心功能的初步实现，产品有了一个很好的雏形。用户可以查询热量、记录三餐、获得基础评分和初步的饮食推荐。但我们也清醒地认识到，这些功能还比较基础，存在很大的优化空间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基于前期的工作和反思，我们为本次为期10天的Alpha冲刺设定了四大核心目标。第一，重构推荐算法，使其更科学、更个性化。第二，优化输入交互，让操作更便捷。第三，完善食材数据库，让信息更全面。第四，深化健康分析功能，为未来的深度分析打下基础。这四个目标构成了我们本次冲刺的行动纲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冲刺的高效完成离不开清晰的团队分工。张慧作为项目负责人和核心开发，承担了项目统筹、开发和算法重构等核心工作。许金枝作为测试工程师，负责功能测试和用户反馈收集。这样的分工确保了开发、测试和反馈的快速循环，推动项目不断前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为了确保冲刺目标的达成，我们将10天的冲刺周期划分为三个阶段。第一阶段是设计与开发，重点是完成算法重构。第二阶段是优化与完善，聚焦于交互和数据的提升。第三阶段是收尾与测试，完成健康分析模块的搭建并进行全面测试。整个计划安排紧凑而有序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这是我们本次冲刺的燃尽图。大家可以看到，绿色的理想线代表我们的计划进度，而蓝色的实际线则反映了我们的真实进展。虽然中途有一些波折，但最终我们成功地在计划时间内完成了所有任务。这表明我们的团队具备良好的执行力和问题解决能力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在冲刺过程中，我们遇到了一系列挑战。首先，我们重构了不合理的推荐算法，使其更加科学和个性化。其次，我们优化了热量输入的交互，解决了用户操作不便的问题。最后，我们通过手动整理最新数据，极大地丰富和完善了食材库。这些问题的解决，是本次冲刺成功的关键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解决的第四个关键问题是健康分析功能的缺失。我们从零开始搭建了这个模块的框架，建立了科学的评分标准，并实现了分类展示。虽然目前功能还比较基础，但它为我们未来实现更深度的分析和个性化建议打下了坚实的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接下来介绍我们的技术架构。我们采用前后端分离的设计。前端是微信小程序原生框架，保证了良好的用户体验。后端是Java Spring Boot，确保了业务逻辑的稳定和高效。我们使用MySQL和JSON文件来存储数据，并通过Git进行版本控制。整个部署流程清晰规范，确保了产品的顺利上线。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测试是保证产品质量的关键环节。我们采用黑盒测试方法，对核心功能进行了全面的测试。通过微信开发者工具，我们模拟了不同的用户场景和设备环境。测试结果表明，我们的产品核心功能稳定，用户体验良好。当然，我们也认识到手动测试效率不高的问题，未来将考虑引入自动化测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次冲刺对我们团队每个人来说都是一次宝贵的成长经历。项目负责人张慧认为，这次实践提升了她的开发和统筹能力。测试工程师许金枝则深刻体会到了用户体验和测试工作的重要性。这些宝贵的经验将帮助我们在未来的项目中做得更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我们的项目有两大亮点：一是功能设计紧密贴合用户的真实需求，非常实用；二是我们的UI设计简洁易用，让用户能够快速上手。当然，我们也存在不足，主要是健康分析功能还有待深化，以及数据更新能力受限。正视这些不足，是我们未来改进的方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展望未来，我们有清晰的规划。短期内，我们将继续深化功能，优化数据更新机制，并提升用户体验。长期来看，我们的愿景是打造一个集饮食记录、健康分析和社区互动于一体的综合性健康管理平台，帮助更多人实现健康生活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最后，我要特别感谢我的指导老师，感谢他的悉心指导和包容。同时，也感谢在座各位同学的聆听和建议。这次项目对我们而言，不仅是一次课程作业，更是一次宝贵的成长经历。我的汇报到此结束，感谢大家！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svg"/><Relationship Id="rId8" Type="http://schemas.openxmlformats.org/officeDocument/2006/relationships/image" Target="../media/image19.png"/><Relationship Id="rId7" Type="http://schemas.openxmlformats.org/officeDocument/2006/relationships/image" Target="../media/image18.svg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32.png"/><Relationship Id="rId4" Type="http://schemas.openxmlformats.org/officeDocument/2006/relationships/image" Target="../media/image31.svg"/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38.svg"/><Relationship Id="rId6" Type="http://schemas.openxmlformats.org/officeDocument/2006/relationships/image" Target="../media/image37.png"/><Relationship Id="rId5" Type="http://schemas.openxmlformats.org/officeDocument/2006/relationships/image" Target="../media/image36.svg"/><Relationship Id="rId4" Type="http://schemas.openxmlformats.org/officeDocument/2006/relationships/image" Target="../media/image35.png"/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42.svg"/><Relationship Id="rId4" Type="http://schemas.openxmlformats.org/officeDocument/2006/relationships/image" Target="../media/image41.png"/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50.svg"/><Relationship Id="rId8" Type="http://schemas.openxmlformats.org/officeDocument/2006/relationships/image" Target="../media/image49.png"/><Relationship Id="rId7" Type="http://schemas.openxmlformats.org/officeDocument/2006/relationships/image" Target="../media/image48.svg"/><Relationship Id="rId6" Type="http://schemas.openxmlformats.org/officeDocument/2006/relationships/image" Target="../media/image47.png"/><Relationship Id="rId5" Type="http://schemas.openxmlformats.org/officeDocument/2006/relationships/image" Target="../media/image46.svg"/><Relationship Id="rId4" Type="http://schemas.openxmlformats.org/officeDocument/2006/relationships/image" Target="../media/image45.png"/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1" Type="http://schemas.openxmlformats.org/officeDocument/2006/relationships/notesSlide" Target="../notesSlides/notesSlide10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56.svg"/><Relationship Id="rId6" Type="http://schemas.openxmlformats.org/officeDocument/2006/relationships/image" Target="../media/image55.png"/><Relationship Id="rId5" Type="http://schemas.openxmlformats.org/officeDocument/2006/relationships/image" Target="../media/image54.svg"/><Relationship Id="rId4" Type="http://schemas.openxmlformats.org/officeDocument/2006/relationships/image" Target="../media/image53.png"/><Relationship Id="rId3" Type="http://schemas.openxmlformats.org/officeDocument/2006/relationships/image" Target="../media/image52.svg"/><Relationship Id="rId2" Type="http://schemas.openxmlformats.org/officeDocument/2006/relationships/image" Target="../media/image51.png"/><Relationship Id="rId1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60.svg"/><Relationship Id="rId4" Type="http://schemas.openxmlformats.org/officeDocument/2006/relationships/image" Target="../media/image59.png"/><Relationship Id="rId3" Type="http://schemas.openxmlformats.org/officeDocument/2006/relationships/image" Target="../media/image58.svg"/><Relationship Id="rId2" Type="http://schemas.openxmlformats.org/officeDocument/2006/relationships/image" Target="../media/image57.pn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64.svg"/><Relationship Id="rId4" Type="http://schemas.openxmlformats.org/officeDocument/2006/relationships/image" Target="../media/image63.png"/><Relationship Id="rId3" Type="http://schemas.openxmlformats.org/officeDocument/2006/relationships/image" Target="../media/image62.svg"/><Relationship Id="rId2" Type="http://schemas.openxmlformats.org/officeDocument/2006/relationships/image" Target="../media/image61.png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67.svg"/><Relationship Id="rId4" Type="http://schemas.openxmlformats.org/officeDocument/2006/relationships/image" Target="../media/image66.svg"/><Relationship Id="rId3" Type="http://schemas.openxmlformats.org/officeDocument/2006/relationships/image" Target="../media/image65.svg"/><Relationship Id="rId2" Type="http://schemas.openxmlformats.org/officeDocument/2006/relationships/image" Target="../media/image29.png"/><Relationship Id="rId1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image" Target="../media/image6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1143000"/>
            <a:ext cx="1778000" cy="558800"/>
          </a:xfrm>
          <a:prstGeom prst="roundRect">
            <a:avLst>
              <a:gd name="adj" fmla="val 22727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143000"/>
            <a:ext cx="1778000" cy="55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1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课程答辩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63600" y="2286000"/>
            <a:ext cx="10160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5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食光智语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3683000"/>
            <a:ext cx="10160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基于智能体的饮食记录与健康管理应用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5207000"/>
            <a:ext cx="10160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汇报团队：食光智语 | 日期：2026年5月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项目背景：一次关键的战略转型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从“拍照即识别”的智能构想，到务实合规的健康赛道探索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540000"/>
            <a:ext cx="3302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6289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2667000"/>
            <a:ext cx="2159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最初的构想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429000"/>
            <a:ext cx="2794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7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我们曾计划开发一款具备“拍照自动识别食物热量 + 三餐自动记录”功能的智能工具，以极致便捷性切入市场。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2540000"/>
            <a:ext cx="3302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7178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334000" y="2667000"/>
            <a:ext cx="2159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面临的核心挑战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3429000"/>
            <a:ext cx="2794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权限限制：</a:t>
            </a: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系统相册权限难获取，隐私风险高。</a:t>
            </a:r>
            <a:b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技术瓶颈：</a:t>
            </a: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图像识别准确率不足，难以实用。</a:t>
            </a:r>
            <a:b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数据合规：</a:t>
            </a: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数据来源与使用存在合规隐患。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2540000"/>
            <a:ext cx="3302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27940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9017000" y="2794000"/>
            <a:ext cx="2159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我们的战略转向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82000" y="3429000"/>
            <a:ext cx="2794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7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为确保可行性与数据安全，我们果断放弃原方案，转向务实且合规的“手动记录 + 专业饮食健康分析”赛道。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207000"/>
            <a:ext cx="10668000" cy="1270000"/>
          </a:xfrm>
          <a:prstGeom prst="roundRect">
            <a:avLst>
              <a:gd name="adj" fmla="val 1600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5461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7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放弃不可行方案，选择合规赛道，是项目行稳致远的基石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冲刺前项目状态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572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19558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01800" y="1955800"/>
            <a:ext cx="3937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已完成工作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" y="2794000"/>
            <a:ext cx="4597400" cy="1524000"/>
          </a:xfrm>
          <a:prstGeom prst="roundRect">
            <a:avLst>
              <a:gd name="adj" fmla="val 6666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219200" y="2921000"/>
            <a:ext cx="42926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🏗️ 基础框架搭建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9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成功搭建微信小程序项目架构，完成了轻量化、简约风格的UI界面设计，为后续功能开发奠定坚实基础。</a:t>
            </a:r>
            <a:endParaRPr lang="en-US" sz="19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66800" y="4572000"/>
            <a:ext cx="4597400" cy="1524000"/>
          </a:xfrm>
          <a:prstGeom prst="roundRect">
            <a:avLst>
              <a:gd name="adj" fmla="val 6666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219200" y="4699000"/>
            <a:ext cx="42926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🗺️ 核心模块布局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9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实现了首页饮食日报、热量计算器、饮食计划三大核心模块的基础布局，完成页面跳转与逻辑串联。</a:t>
            </a:r>
            <a:endParaRPr lang="en-US" sz="19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223000" y="1651000"/>
            <a:ext cx="5207000" cy="4572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7800" y="19558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162800" y="1955800"/>
            <a:ext cx="3937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核心功能实现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527800" y="2794000"/>
            <a:ext cx="4597400" cy="1524000"/>
          </a:xfrm>
          <a:prstGeom prst="roundRect">
            <a:avLst>
              <a:gd name="adj" fmla="val 6666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680200" y="2921000"/>
            <a:ext cx="42926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2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🔍</a:t>
            </a:r>
            <a:r>
              <a:rPr lang="en-US" sz="2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热量查询 | 📝 三餐记录</a:t>
            </a:r>
            <a:br>
              <a:rPr lang="en-US" sz="1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9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支持常见食材的热量快速检索；提供便捷的手动录入功能，帮助用户完整记录一日三餐摄入情况。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527800" y="4572000"/>
            <a:ext cx="4597400" cy="1524000"/>
          </a:xfrm>
          <a:prstGeom prst="roundRect">
            <a:avLst>
              <a:gd name="adj" fmla="val 6666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680200" y="4699000"/>
            <a:ext cx="42926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⭐</a:t>
            </a:r>
            <a:r>
              <a:rPr lang="en-US" sz="2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健康评分 | 📋 初步推荐</a:t>
            </a:r>
            <a:br>
              <a:rPr lang="en-US" sz="1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9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基于用户摄入数据，自动计算并生成基础饮食健康评分；根据设定的目标体重，提供初步的个性化饮食推荐方案。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本次冲刺核心目标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635000"/>
          </a:xfrm>
          <a:prstGeom prst="roundRect">
            <a:avLst>
              <a:gd name="adj" fmla="val 16000"/>
            </a:avLst>
          </a:prstGeom>
          <a:solidFill>
            <a:srgbClr val="22C55E">
              <a:alpha val="1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952500" y="1524000"/>
            <a:ext cx="10287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Alpha冲刺 · 10天攻坚 · 聚焦四大关键领域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794000"/>
            <a:ext cx="1143000" cy="1143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413000" y="2667000"/>
            <a:ext cx="3302000" cy="139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算法重构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600"/>
              </a:spcBef>
            </a:pPr>
            <a:r>
              <a:rPr lang="en-US" sz="19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优化饮食推荐算法，从单一热量导向升级为多维度、个性化推荐模型，兼顾口味与营养均衡。</a:t>
            </a:r>
            <a:endParaRPr lang="en-US" sz="19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24130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794000"/>
            <a:ext cx="1143000" cy="1143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874000" y="2667000"/>
            <a:ext cx="3302000" cy="139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交互优化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600"/>
              </a:spcBef>
            </a:pPr>
            <a:r>
              <a:rPr lang="en-US" sz="19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改进热量输入方式，增加手动输入功能，并完善输入校验机制，大幅提升用户操作的便捷性。</a:t>
            </a:r>
            <a:endParaRPr lang="en-US" sz="19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45720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953000"/>
            <a:ext cx="1143000" cy="1143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2413000" y="4826000"/>
            <a:ext cx="3302000" cy="139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数据完善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600"/>
              </a:spcBef>
            </a:pPr>
            <a:r>
              <a:rPr lang="en-US" sz="19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建立本地食材数据库更新机制，补充更多食材数据，并支持关键词搜索与分类筛选功能。</a:t>
            </a:r>
            <a:endParaRPr lang="en-US" sz="19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223000" y="45720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4953000"/>
            <a:ext cx="1143000" cy="1143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874000" y="4826000"/>
            <a:ext cx="3302000" cy="139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功能深化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600"/>
              </a:spcBef>
            </a:pPr>
            <a:r>
              <a:rPr lang="en-US" sz="19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搭建健康分析模块框架，录入基础营养评分标准，为后续长期的用户饮食趋势分析预留接口。</a:t>
            </a:r>
            <a:endParaRPr lang="en-US" sz="19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团队成员分工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3429000" cy="4318000"/>
          </a:xfrm>
          <a:prstGeom prst="roundRect">
            <a:avLst>
              <a:gd name="adj" fmla="val 4444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429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86000"/>
            <a:ext cx="711200" cy="711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905000" y="2286000"/>
            <a:ext cx="2032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张慧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Project Leader</a:t>
            </a:r>
            <a:endParaRPr lang="en-US" sz="1200" b="0" i="0" u="none" strike="noStrike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3429000"/>
            <a:ext cx="3429000" cy="241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spcBef>
                <a:spcPts val="800"/>
              </a:spcBef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⚡ 角色定位：</a:t>
            </a:r>
            <a:r>
              <a:rPr lang="en-US" sz="1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项目负责人 / 核心开发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统筹项目整体进度与方向</a:t>
            </a:r>
            <a:b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负责系统前后端核心功能开发</a:t>
            </a:r>
            <a:b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主导算法逻辑重构与优化</a:t>
            </a:r>
            <a:b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项目数据整理与可视化呈现</a:t>
            </a:r>
            <a:b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撰写技术博客与答辩PPT准备</a:t>
            </a:r>
            <a:endParaRPr lang="en-US" sz="18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445000" y="2032000"/>
            <a:ext cx="3302000" cy="3810000"/>
          </a:xfrm>
          <a:prstGeom prst="roundRect">
            <a:avLst>
              <a:gd name="adj" fmla="val 4615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24500" y="2794000"/>
            <a:ext cx="1143000" cy="1143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572000" y="4191000"/>
            <a:ext cx="3048000" cy="139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协作共赢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Collaboration &amp; Win-Win</a:t>
            </a:r>
            <a:b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500" b="0" i="0" u="none" strike="noStrike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分工明确 · 高效配合</a:t>
            </a:r>
            <a:endParaRPr lang="en-US" sz="1500" b="0" i="0" u="none" strike="noStrike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001000" y="1778000"/>
            <a:ext cx="3429000" cy="4318000"/>
          </a:xfrm>
          <a:prstGeom prst="roundRect">
            <a:avLst>
              <a:gd name="adj" fmla="val 4444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001000" y="1778000"/>
            <a:ext cx="34290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9144000" y="2286000"/>
            <a:ext cx="2032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许金枝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QA &amp; UX Specialist</a:t>
            </a:r>
            <a:endParaRPr lang="en-US" sz="1200" b="0" i="0" u="none" strike="noStrike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001000" y="3429000"/>
            <a:ext cx="3429000" cy="241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spcBef>
                <a:spcPts val="800"/>
              </a:spcBef>
              <a:defRPr/>
            </a:pPr>
            <a:r>
              <a:rPr lang="en-US" sz="20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🧪 角色定位：</a:t>
            </a:r>
            <a:r>
              <a:rPr lang="en-US" sz="1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测试工程师 / 用户体验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7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执行全面功能测试，保障产品质量</a:t>
            </a:r>
            <a:b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7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收集并分析用户反馈，优化体验</a:t>
            </a:r>
            <a:b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7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编写详细的测试用例文档</a:t>
            </a:r>
            <a:b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7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记录并分享项目过程与心得博客</a:t>
            </a:r>
            <a:b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7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协助完成最终答辩PPT的素材制作</a:t>
            </a:r>
            <a:endParaRPr lang="en-US" sz="17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11403" y="2286000"/>
            <a:ext cx="711200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blipFill rotWithShape="1">
            <a:blip r:embed="rId1"/>
            <a:stretch>
              <a:fillRect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冲刺任务分解与时间规划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302000" cy="1143000"/>
          </a:xfrm>
          <a:prstGeom prst="roundRect">
            <a:avLst>
              <a:gd name="adj" fmla="val 13333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2500" y="1968500"/>
            <a:ext cx="508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1587500" y="1841500"/>
            <a:ext cx="2286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第一阶段：设计与开发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700" b="0" i="0" u="none" strike="noStrike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D1 - D4 | 核心攻坚</a:t>
            </a:r>
            <a:endParaRPr lang="en-US" sz="1700" b="0" i="0" u="none" strike="noStrike">
              <a:solidFill>
                <a:srgbClr val="FFFFFF">
                  <a:alpha val="90196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952500" y="3048000"/>
            <a:ext cx="2921000" cy="292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127000" rIns="63500" bIns="127000" rtlCol="0" anchor="ctr" anchorCtr="0"/>
          <a:lstStyle/>
          <a:p>
            <a:pPr marL="241300" indent="-241300" algn="l">
              <a:lnSpc>
                <a:spcPct val="117000"/>
              </a:lnSpc>
              <a:spcBef>
                <a:spcPts val="1200"/>
              </a:spcBef>
              <a:buClr>
                <a:srgbClr val="333333"/>
              </a:buClr>
              <a:buChar char="•"/>
              <a:defRPr/>
            </a:pPr>
            <a:r>
              <a:rPr lang="en-US" sz="19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需求分析与方案设计 (D1)</a:t>
            </a:r>
            <a:br>
              <a:rPr lang="en-US" sz="17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8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完成产品功能需求拆解，输出详细技术方案与接口文档。</a:t>
            </a:r>
            <a:endParaRPr lang="en-US" sz="1100"/>
          </a:p>
          <a:p>
            <a:pPr marL="241300" indent="-241300" algn="l">
              <a:lnSpc>
                <a:spcPct val="117000"/>
              </a:lnSpc>
              <a:spcBef>
                <a:spcPts val="2000"/>
              </a:spcBef>
              <a:buClr>
                <a:srgbClr val="333333"/>
              </a:buClr>
              <a:buChar char="•"/>
            </a:pPr>
            <a:r>
              <a:rPr lang="en-US" sz="19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推荐算法重构 (D2-D4)</a:t>
            </a:r>
            <a:br>
              <a:rPr lang="en-US" sz="17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8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优化底层推荐逻辑，提升个性化饮食推荐的准确率与响应速度。</a:t>
            </a:r>
            <a:endParaRPr lang="en-US" sz="18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445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445000" y="1651000"/>
            <a:ext cx="3302000" cy="1143000"/>
          </a:xfrm>
          <a:prstGeom prst="roundRect">
            <a:avLst>
              <a:gd name="adj" fmla="val 13333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635500" y="1968500"/>
            <a:ext cx="508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5270500" y="1841500"/>
            <a:ext cx="2286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第二阶段：优化与完善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700" b="0" i="0" u="none" strike="noStrike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D5 - D8 | 体验升级</a:t>
            </a:r>
            <a:endParaRPr lang="en-US" sz="1700" b="0" i="0" u="none" strike="noStrike">
              <a:solidFill>
                <a:srgbClr val="FFFFFF">
                  <a:alpha val="90196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635500" y="3048000"/>
            <a:ext cx="2921000" cy="292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127000" rIns="63500" bIns="127000" rtlCol="0" anchor="ctr" anchorCtr="0"/>
          <a:lstStyle/>
          <a:p>
            <a:pPr marL="241300" indent="-241300" algn="l">
              <a:lnSpc>
                <a:spcPct val="117000"/>
              </a:lnSpc>
              <a:spcBef>
                <a:spcPts val="1200"/>
              </a:spcBef>
              <a:buClr>
                <a:srgbClr val="333333"/>
              </a:buClr>
              <a:buChar char="•"/>
              <a:defRPr/>
            </a:pPr>
            <a:r>
              <a:rPr lang="en-US" sz="19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热量输入交互优化 (D5-D6)</a:t>
            </a:r>
            <a:br>
              <a:rPr lang="en-US" sz="17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8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简化热量录入步骤，优化UI交互流程，降低用户操作门槛。</a:t>
            </a:r>
            <a:endParaRPr lang="en-US" sz="1100"/>
          </a:p>
          <a:p>
            <a:pPr marL="241300" indent="-241300" algn="l">
              <a:lnSpc>
                <a:spcPct val="117000"/>
              </a:lnSpc>
              <a:spcBef>
                <a:spcPts val="2000"/>
              </a:spcBef>
              <a:buClr>
                <a:srgbClr val="333333"/>
              </a:buClr>
              <a:buChar char="•"/>
            </a:pPr>
            <a:r>
              <a:rPr lang="en-US" sz="19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食材库模块完善 (D7-D8)</a:t>
            </a:r>
            <a:br>
              <a:rPr lang="en-US" sz="17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8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扩充常见食物数据库，完善食材热量与营养成分数据的覆盖。</a:t>
            </a:r>
            <a:endParaRPr lang="en-US" sz="18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128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128000" y="1651000"/>
            <a:ext cx="3302000" cy="1143000"/>
          </a:xfrm>
          <a:prstGeom prst="roundRect">
            <a:avLst>
              <a:gd name="adj" fmla="val 13333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318500" y="1968500"/>
            <a:ext cx="508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8953500" y="1841500"/>
            <a:ext cx="2286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第三阶段：收尾与测试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700" b="0" i="0" u="none" strike="noStrike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D9 - D10 | 冲刺上线</a:t>
            </a:r>
            <a:endParaRPr lang="en-US" sz="1700" b="0" i="0" u="none" strike="noStrike">
              <a:solidFill>
                <a:srgbClr val="FFFFFF">
                  <a:alpha val="90196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8318500" y="3048000"/>
            <a:ext cx="2921000" cy="258050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127000" rIns="63500" bIns="127000" rtlCol="0" anchor="ctr" anchorCtr="0"/>
          <a:lstStyle/>
          <a:p>
            <a:pPr marL="241300" indent="-241300" algn="l">
              <a:lnSpc>
                <a:spcPct val="108000"/>
              </a:lnSpc>
              <a:spcBef>
                <a:spcPts val="800"/>
              </a:spcBef>
              <a:buClr>
                <a:srgbClr val="333333"/>
              </a:buClr>
              <a:buChar char="•"/>
              <a:defRPr/>
            </a:pPr>
            <a:r>
              <a:rPr lang="en-US" sz="19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健康分析模块搭建 (D9-D10)</a:t>
            </a:r>
            <a:br>
              <a:rPr lang="en-US" sz="17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8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完成健康数据的整合与分析图表展示功能开发。</a:t>
            </a:r>
            <a:endParaRPr lang="en-US" sz="1100"/>
          </a:p>
          <a:p>
            <a:pPr marL="241300" indent="-241300" algn="l">
              <a:lnSpc>
                <a:spcPct val="108000"/>
              </a:lnSpc>
              <a:spcBef>
                <a:spcPts val="1200"/>
              </a:spcBef>
              <a:buClr>
                <a:srgbClr val="333333"/>
              </a:buClr>
              <a:buChar char="•"/>
            </a:pPr>
            <a:r>
              <a:rPr lang="en-US" sz="19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功能测试与反馈收集</a:t>
            </a:r>
            <a:br>
              <a:rPr lang="en-US" sz="17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8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全流程功能测试与Bug修复，同步收集用户反馈。</a:t>
            </a:r>
            <a:endParaRPr lang="en-US" sz="18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实际进度跟踪：燃尽图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21590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21590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239000" y="2133600"/>
            <a:ext cx="3810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图表解读与复盘</a:t>
            </a:r>
            <a:b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任务“燃尽”，目标达成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604000" y="3302000"/>
            <a:ext cx="4445000" cy="241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从整体趋势来看，团队高效地完成了冲刺计划。燃尽图直观反映出项目始终处于可控范围内，未出现偏离目标的情况。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600"/>
              </a:spcBef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虽然中途遇到了数据整理的小挑战，导致进度有微小波动，但团队快速调整节奏，最终成功达成了所有核心目标，高质量实现了任务的“燃尽”。这充分体现了团队优秀的执行力和灵活的问题解决能力。</a:t>
            </a:r>
            <a:endParaRPr lang="en-US" sz="16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30" y="1628140"/>
            <a:ext cx="5358130" cy="46285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blipFill rotWithShape="1">
            <a:blip r:embed="rId1"/>
            <a:stretch>
              <a:fillRect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问题解决过程 (1/2)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302000" cy="1143000"/>
          </a:xfrm>
          <a:prstGeom prst="roundRect">
            <a:avLst>
              <a:gd name="adj" fmla="val 13333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9685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87500" y="1841500"/>
            <a:ext cx="2286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问题1：推荐算法不合理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048000"/>
            <a:ext cx="2921000" cy="304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127000" rIns="63500" bIns="127000" rtlCol="0" anchor="ctr" anchorCtr="0"/>
          <a:lstStyle/>
          <a:p>
            <a:pPr indent="0" algn="l">
              <a:lnSpc>
                <a:spcPct val="125000"/>
              </a:lnSpc>
              <a:spcBef>
                <a:spcPts val="500"/>
              </a:spcBef>
              <a:defRPr/>
            </a:pPr>
            <a:r>
              <a:rPr lang="en-US" sz="23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解决方案</a:t>
            </a:r>
            <a:endParaRPr lang="en-US" sz="1100"/>
          </a:p>
          <a:p>
            <a:pPr indent="0" algn="just">
              <a:lnSpc>
                <a:spcPct val="117000"/>
              </a:lnSpc>
              <a:spcBef>
                <a:spcPts val="1000"/>
              </a:spcBef>
            </a:pPr>
            <a:r>
              <a:rPr lang="en-US" sz="19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重构算法，引入基础代谢率计算、三大营养素配比和用户饮食偏好，生成更科学的个性化推荐，确保饮食建议的准确性和适用性。</a:t>
            </a:r>
            <a:endParaRPr lang="en-US" sz="19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445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445000" y="1651000"/>
            <a:ext cx="3302000" cy="1143000"/>
          </a:xfrm>
          <a:prstGeom prst="roundRect">
            <a:avLst>
              <a:gd name="adj" fmla="val 13333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19685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270500" y="1841500"/>
            <a:ext cx="2286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问题2：热量输入交互不便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35500" y="3048000"/>
            <a:ext cx="2921000" cy="304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127000" rIns="63500" bIns="127000" rtlCol="0" anchor="ctr" anchorCtr="0"/>
          <a:lstStyle/>
          <a:p>
            <a:pPr indent="0" algn="l">
              <a:lnSpc>
                <a:spcPct val="125000"/>
              </a:lnSpc>
              <a:spcBef>
                <a:spcPts val="500"/>
              </a:spcBef>
              <a:defRPr/>
            </a:pPr>
            <a:r>
              <a:rPr lang="en-US" sz="23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解决方案</a:t>
            </a:r>
            <a:endParaRPr lang="en-US" sz="1100"/>
          </a:p>
          <a:p>
            <a:pPr indent="0" algn="just">
              <a:lnSpc>
                <a:spcPct val="117000"/>
              </a:lnSpc>
              <a:spcBef>
                <a:spcPts val="1000"/>
              </a:spcBef>
            </a:pPr>
            <a:r>
              <a:rPr lang="en-US" sz="19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全面优化输入交互逻辑，增加手动输入功能，补充智能输入校验规则，有效提升用户操作时的灵活性，大幅降低使用门槛与误操作率。</a:t>
            </a:r>
            <a:endParaRPr lang="en-US" sz="19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128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128000" y="1651000"/>
            <a:ext cx="3302000" cy="1143000"/>
          </a:xfrm>
          <a:prstGeom prst="roundRect">
            <a:avLst>
              <a:gd name="adj" fmla="val 13333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18500" y="19685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953500" y="1841500"/>
            <a:ext cx="2286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问题3：食材数据陈旧不完整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18500" y="3048000"/>
            <a:ext cx="2921000" cy="304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127000" rIns="63500" bIns="127000" rtlCol="0" anchor="ctr" anchorCtr="0"/>
          <a:lstStyle/>
          <a:p>
            <a:pPr indent="0" algn="l">
              <a:lnSpc>
                <a:spcPct val="125000"/>
              </a:lnSpc>
              <a:spcBef>
                <a:spcPts val="500"/>
              </a:spcBef>
              <a:defRPr/>
            </a:pPr>
            <a:r>
              <a:rPr lang="en-US" sz="24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解决方案</a:t>
            </a:r>
            <a:endParaRPr lang="en-US" sz="1100"/>
          </a:p>
          <a:p>
            <a:pPr indent="0" algn="just">
              <a:lnSpc>
                <a:spcPct val="117000"/>
              </a:lnSpc>
              <a:spcBef>
                <a:spcPts val="1000"/>
              </a:spcBef>
            </a:pPr>
            <a:r>
              <a:rPr lang="en-US" sz="19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手动整理并导入最新版《中国食物成分表》，细致补充不同烹饪方式产生的热量差异数据，并建立定期手动更新机制，保障数据库持续准确与完整。</a:t>
            </a:r>
            <a:endParaRPr lang="en-US" sz="19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问题解决过程 (2/2)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21590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2095500"/>
            <a:ext cx="3937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问题4：健康分析功能缺失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143000" y="3302000"/>
            <a:ext cx="4445000" cy="241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1000"/>
              </a:spcBef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解决方案：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9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搭建健康分析模块框架，设计数据模型存储每日营养摄入详情，录入中国居民膳食营养素参考摄入量（DRIs）作为评分标准，并开发按摄入类别分类展示的功能。</a:t>
            </a:r>
            <a:endParaRPr lang="en-US" sz="19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21590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239000" y="2095500"/>
            <a:ext cx="3937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成果与反思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604000" y="3302000"/>
            <a:ext cx="4445000" cy="241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1000"/>
              </a:spcBef>
              <a:defRPr/>
            </a:pPr>
            <a:r>
              <a:rPr lang="en-US" sz="19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🏆 成果：</a:t>
            </a:r>
            <a:r>
              <a:rPr lang="en-US" sz="17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健康分析模块从无到有，具备了基础分析能力，能为用户提供初步的膳食营养评估。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2000"/>
              </a:spcBef>
            </a:pPr>
            <a:r>
              <a:rPr lang="en-US" sz="19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📝 反思：</a:t>
            </a:r>
            <a:r>
              <a:rPr lang="en-US" sz="17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当前功能的深度和广度仍有待加强，下一步应聚焦于优化数据可视化效果，提升用户可读性，并实现基于数据的个性化智能建议功能。</a:t>
            </a:r>
            <a:endParaRPr lang="en-US" sz="17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项目技术架构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762000"/>
          </a:xfrm>
          <a:prstGeom prst="roundRect">
            <a:avLst>
              <a:gd name="adj" fmla="val 13333"/>
            </a:avLst>
          </a:prstGeom>
          <a:solidFill>
            <a:srgbClr val="22C55E">
              <a:alpha val="10000"/>
            </a:srgbClr>
          </a:solidFill>
          <a:ln w="12700" cap="flat" cmpd="sng">
            <a:solidFill>
              <a:srgbClr val="22C55E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952500" y="1524000"/>
            <a:ext cx="10287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架构特点：前后端分离 · 轻量高效 · 部署规范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794000"/>
            <a:ext cx="1143000" cy="1143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413000" y="2603500"/>
            <a:ext cx="3302000" cy="152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6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前端架构</a:t>
            </a:r>
            <a:endParaRPr lang="en-US" sz="1100"/>
          </a:p>
          <a:p>
            <a:pPr indent="0" algn="ctr">
              <a:lnSpc>
                <a:spcPct val="108000"/>
              </a:lnSpc>
              <a:spcBef>
                <a:spcPts val="600"/>
              </a:spcBef>
            </a:pPr>
            <a:r>
              <a:rPr lang="en-US" sz="15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框架：</a:t>
            </a:r>
            <a:r>
              <a:rPr lang="en-US" sz="15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微信小程序原生框架</a:t>
            </a:r>
            <a:br>
              <a:rPr lang="en-US" sz="2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5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技术栈：</a:t>
            </a:r>
            <a:r>
              <a:rPr lang="en-US" sz="15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WXML, WXSS, JavaScript</a:t>
            </a:r>
            <a:br>
              <a:rPr lang="en-US" sz="2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5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特点：</a:t>
            </a:r>
            <a:r>
              <a:rPr lang="en-US" sz="15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轻量级、响应式，贴合微信生态规范，体验流畅。</a:t>
            </a:r>
            <a:endParaRPr lang="en-US" sz="15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24130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794000"/>
            <a:ext cx="1143000" cy="1143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874000" y="2603500"/>
            <a:ext cx="3302000" cy="152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6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后端架构</a:t>
            </a:r>
            <a:endParaRPr lang="en-US" sz="1100"/>
          </a:p>
          <a:p>
            <a:pPr indent="0" algn="ctr">
              <a:lnSpc>
                <a:spcPct val="108000"/>
              </a:lnSpc>
              <a:spcBef>
                <a:spcPts val="600"/>
              </a:spcBef>
            </a:pPr>
            <a:r>
              <a:rPr lang="en-US" sz="15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框架：</a:t>
            </a:r>
            <a:r>
              <a:rPr lang="en-US" sz="15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Java Spring Boot</a:t>
            </a:r>
            <a:br>
              <a:rPr lang="en-US" sz="2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5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技术栈：</a:t>
            </a:r>
            <a:r>
              <a:rPr lang="en-US" sz="15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Java, Spring Boot, MyBatis</a:t>
            </a:r>
            <a:br>
              <a:rPr lang="en-US" sz="2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5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特点：</a:t>
            </a:r>
            <a:r>
              <a:rPr lang="en-US" sz="15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微服务思想，支持快速开发部署，通过RESTful API与前端高效交互。</a:t>
            </a:r>
            <a:endParaRPr lang="en-US" sz="15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45720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889500"/>
            <a:ext cx="1143000" cy="1143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2413000" y="4762500"/>
            <a:ext cx="3302000" cy="152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技术与工具</a:t>
            </a:r>
            <a:endParaRPr lang="en-US" sz="1100"/>
          </a:p>
          <a:p>
            <a:pPr indent="0" algn="ctr">
              <a:lnSpc>
                <a:spcPct val="108000"/>
              </a:lnSpc>
              <a:spcBef>
                <a:spcPts val="600"/>
              </a:spcBef>
            </a:pPr>
            <a:r>
              <a:rPr lang="en-US" sz="14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开发工具：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微信开发者工具、IntelliJ IDEA</a:t>
            </a:r>
            <a:b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数据存储：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MySQL (关系型数据), JSON (配置数据)</a:t>
            </a:r>
            <a:b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版本控制：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Git (代码管理与协作)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223000" y="45720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4889500"/>
            <a:ext cx="1143000" cy="1143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874000" y="4762500"/>
            <a:ext cx="3302000" cy="152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6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标准部署流程</a:t>
            </a:r>
            <a:endParaRPr lang="en-US" sz="1100"/>
          </a:p>
          <a:p>
            <a:pPr indent="0" algn="ctr">
              <a:lnSpc>
                <a:spcPct val="117000"/>
              </a:lnSpc>
              <a:spcBef>
                <a:spcPts val="600"/>
              </a:spcBef>
            </a:pPr>
            <a:r>
              <a:rPr lang="en-US" sz="15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本地开发 → 集成测试 → 小程序打包 → 后台上传 → 审核发布</a:t>
            </a:r>
            <a:br>
              <a:rPr lang="en-US" sz="2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5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全流程规范化管理，保障产品稳定迭代与上线。</a:t>
            </a:r>
            <a:endParaRPr lang="en-US" sz="15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blipFill rotWithShape="1">
            <a:blip r:embed="rId1"/>
            <a:stretch>
              <a:fillRect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测试工作安排与评述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302000" cy="1143000"/>
          </a:xfrm>
          <a:prstGeom prst="roundRect">
            <a:avLst>
              <a:gd name="adj" fmla="val 13333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9685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87500" y="1841500"/>
            <a:ext cx="2286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测试策略与安排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048000"/>
            <a:ext cx="2921000" cy="292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采用黑盒测试方法，重点覆盖核心功能模块，主要包含：</a:t>
            </a:r>
            <a:endParaRPr lang="en-US" sz="1100"/>
          </a:p>
          <a:p>
            <a:pPr indent="0" algn="ctr">
              <a:lnSpc>
                <a:spcPct val="117000"/>
              </a:lnSpc>
              <a:spcBef>
                <a:spcPts val="800"/>
              </a:spcBef>
            </a:pPr>
            <a:r>
              <a:rPr lang="en-US" sz="15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功能测试：</a:t>
            </a:r>
            <a:r>
              <a:rPr lang="en-US" sz="15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全面覆盖产品核心功能的增加、删除、修改、查询（CRUD）场景，确保业务逻辑闭环与准确性。</a:t>
            </a:r>
            <a:endParaRPr lang="en-US" sz="15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17000"/>
              </a:lnSpc>
              <a:spcBef>
                <a:spcPts val="800"/>
              </a:spcBef>
            </a:pPr>
            <a:r>
              <a:rPr lang="en-US" sz="15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体验测试：</a:t>
            </a:r>
            <a:r>
              <a:rPr lang="en-US" sz="15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模拟真实用户的操作路径，重点验证交互流畅度、界面友好性及易用性，确保产品体验符合预期。</a:t>
            </a:r>
            <a:endParaRPr lang="en-US" sz="15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445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445000" y="1651000"/>
            <a:ext cx="3302000" cy="1143000"/>
          </a:xfrm>
          <a:prstGeom prst="roundRect">
            <a:avLst>
              <a:gd name="adj" fmla="val 13333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19685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270500" y="1841500"/>
            <a:ext cx="2286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测试工具与运用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35500" y="3048000"/>
            <a:ext cx="2921000" cy="292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结合项目实际场景与工具特点，构建了轻量化、高效的测试支撑体系：</a:t>
            </a:r>
            <a:endParaRPr lang="en-US" sz="1100"/>
          </a:p>
          <a:p>
            <a:pPr indent="0" algn="ctr">
              <a:lnSpc>
                <a:spcPct val="117000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调试与模拟：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利用微信开发者工具自带的调试器与多端模拟器，低成本实现了不同设备、不同系统环境的功能与兼容性验证。</a:t>
            </a:r>
            <a:endParaRPr lang="en-US" sz="14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17000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管理与记录：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 Excel 表格建立测试用例库和缺陷跟踪表，清晰记录每一条用例的执行结果与缺陷详情，确保问题可追溯、可闭环。</a:t>
            </a:r>
            <a:endParaRPr lang="en-US" sz="14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128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128000" y="1651000"/>
            <a:ext cx="3302000" cy="1143000"/>
          </a:xfrm>
          <a:prstGeom prst="roundRect">
            <a:avLst>
              <a:gd name="adj" fmla="val 13333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18500" y="19685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953500" y="1841500"/>
            <a:ext cx="2286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测试评述与改进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18500" y="3048000"/>
            <a:ext cx="2921000" cy="292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本次测试成效：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测试范围覆盖了所有核心功能点，在产品上线前提前发现并修复了多个潜在的功能性Bug与体验问题，显著提升了产品的整体稳定性与健壮性，降低了线上故障风险。</a:t>
            </a:r>
            <a:endParaRPr lang="en-US" sz="1100"/>
          </a:p>
          <a:p>
            <a:pPr indent="0" algn="ctr">
              <a:lnSpc>
                <a:spcPct val="117000"/>
              </a:lnSpc>
              <a:spcBef>
                <a:spcPts val="1200"/>
              </a:spcBef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未来优化方向：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目前主要采用手工测试，效率存在瓶颈。后续将引入自动化测试框架，编写自动化脚本覆盖高频回归场景，进一步提升测试效率与敏捷性。</a:t>
            </a:r>
            <a:endParaRPr lang="en-US" sz="14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成员过程体会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21590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2133600"/>
            <a:ext cx="3937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张慧</a:t>
            </a:r>
            <a:r>
              <a:rPr lang="en-US" sz="20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（项目负责人 / 开发）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143000" y="3302000"/>
            <a:ext cx="4445000" cy="241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7000"/>
              </a:lnSpc>
              <a:spcBef>
                <a:spcPts val="800"/>
              </a:spcBef>
              <a:defRPr/>
            </a:pPr>
            <a:r>
              <a:rPr 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“本次冲刺是一次宝贵的实战经历。从调整项目方向到重构算法，整个过程充满挑战也收获满满。我不仅提升了全栈开发和项目统筹能力，更深刻认识到在资源有限的情况下，如何做出务实的技术决策。”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21590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239000" y="2133600"/>
            <a:ext cx="3937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许金枝</a:t>
            </a:r>
            <a:r>
              <a:rPr lang="en-US" sz="20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（测试 / 反馈）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604000" y="3302000"/>
            <a:ext cx="4445000" cy="241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7000"/>
              </a:lnSpc>
              <a:spcBef>
                <a:spcPts val="800"/>
              </a:spcBef>
              <a:defRPr/>
            </a:pPr>
            <a:r>
              <a:rPr 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“作为测试人员，我深刻体会到‘用户至上’的理念。每一个交互细节的优化，每一个bug的修复，都直接关系到用户体验。这次经历让我熟悉了项目的整体逻辑，也让我明白了软件开发中测试环节的重要性。”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项目亮点与不足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572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19558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01800" y="1955800"/>
            <a:ext cx="3937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项目亮点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" y="2794000"/>
            <a:ext cx="4597400" cy="1651000"/>
          </a:xfrm>
          <a:prstGeom prst="roundRect">
            <a:avLst>
              <a:gd name="adj" fmla="val 6153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219200" y="2984500"/>
            <a:ext cx="42926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0D94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✨ 功能贴合真实需求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聚焦饮食记录、热量查询、健康分析等高频刚需，精准解决用户“想知道吃了多少、怎么吃才健康”的核心痛点，实用价值高。</a:t>
            </a:r>
            <a:endParaRPr lang="en-US" sz="15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66800" y="4572000"/>
            <a:ext cx="4597400" cy="1524000"/>
          </a:xfrm>
          <a:prstGeom prst="roundRect">
            <a:avLst>
              <a:gd name="adj" fmla="val 6666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219200" y="4762500"/>
            <a:ext cx="42926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0D94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🎨 UI交互简洁易用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采用轻量化设计风格，界面直观清晰，操作流程完全符合用户直觉，有效降低了用户的使用和学习成本，提升体验感。</a:t>
            </a:r>
            <a:endParaRPr lang="en-US" sz="15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223000" y="1651000"/>
            <a:ext cx="5207000" cy="4572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7800" y="19558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162800" y="1955800"/>
            <a:ext cx="3937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项目不足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527800" y="2794000"/>
            <a:ext cx="4597400" cy="1651000"/>
          </a:xfrm>
          <a:prstGeom prst="roundRect">
            <a:avLst>
              <a:gd name="adj" fmla="val 6153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680200" y="2984500"/>
            <a:ext cx="42926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D9770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📊 健康分析功能待完善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目前分析维度较为基础，多为基础数据罗列，缺乏结合用户体质、习惯的深度洞察，以及个性化的饮食改善建议。</a:t>
            </a:r>
            <a:endParaRPr lang="en-US" sz="15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527800" y="4572000"/>
            <a:ext cx="4597400" cy="1524000"/>
          </a:xfrm>
          <a:prstGeom prst="roundRect">
            <a:avLst>
              <a:gd name="adj" fmla="val 6666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680200" y="4762500"/>
            <a:ext cx="42926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D9770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🔄 数据更新能力受限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缺乏权威食品库的官方数据接口，目前依赖本地维护的静态数据，更新滞后且维护成本较高，难以覆盖海量的新食品。</a:t>
            </a:r>
            <a:endParaRPr lang="en-US" sz="15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blipFill rotWithShape="1">
            <a:blip r:embed="rId1"/>
            <a:stretch>
              <a:fillRect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2794000"/>
          </a:xfrm>
          <a:prstGeom prst="roundRect">
            <a:avLst>
              <a:gd name="adj" fmla="val 5454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050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016000" y="1955800"/>
            <a:ext cx="2921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短期目标 · 功能深化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730500"/>
            <a:ext cx="2794000" cy="152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完善健康分析模块，增加营养缺口提示功能，为用户提供直观的长期饮食健康趋势分析图表。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651000"/>
            <a:ext cx="3302000" cy="2794000"/>
          </a:xfrm>
          <a:prstGeom prst="roundRect">
            <a:avLst>
              <a:gd name="adj" fmla="val 5454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19050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699000" y="1905000"/>
            <a:ext cx="2921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短期目标 · 数据驱动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2730500"/>
            <a:ext cx="2794000" cy="152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积极探索与权威开放营养数据平台的深度合作，建立数据同步机制，实现海量食材数据的实时动态更新。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1651000"/>
            <a:ext cx="3302000" cy="2794000"/>
          </a:xfrm>
          <a:prstGeom prst="roundRect">
            <a:avLst>
              <a:gd name="adj" fmla="val 5454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0" y="19050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382000" y="1905000"/>
            <a:ext cx="2921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短期目标 · 体验升级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82000" y="2730500"/>
            <a:ext cx="2794000" cy="152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探索引入语音录入、图像识别等智能化技术，大幅降低用户记录饮食的操作门槛，提供更便捷流畅的记录体验。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699000"/>
            <a:ext cx="10668000" cy="1651000"/>
          </a:xfrm>
          <a:prstGeom prst="roundRect">
            <a:avLst>
              <a:gd name="adj" fmla="val 12307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4889500"/>
            <a:ext cx="106680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9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LONG-TERM VISION · 长期愿景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1000"/>
              </a:spcBef>
            </a:pPr>
            <a:r>
              <a:rPr lang="en-US" sz="22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打造一个集饮食记录、健康分析、社区互动于一体的综合性健康管理平台，</a:t>
            </a:r>
            <a:endParaRPr lang="en-US" sz="22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  <a:spcBef>
                <a:spcPts val="1000"/>
              </a:spcBef>
            </a:pPr>
            <a:r>
              <a:rPr lang="en-US" sz="22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成为每个人身边最贴心的健康管家。</a:t>
            </a:r>
            <a:endParaRPr lang="en-US" sz="22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1524000"/>
            <a:ext cx="10160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总结与致谢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667000"/>
            <a:ext cx="3175000" cy="2631989"/>
          </a:xfrm>
          <a:prstGeom prst="roundRect">
            <a:avLst>
              <a:gd name="adj" fmla="val 57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219200" y="29210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651000" y="2882900"/>
            <a:ext cx="2286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项目初衷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219200" y="3644900"/>
            <a:ext cx="2768600" cy="1206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8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源于对同学健康状况的关注，借助飞速发展的AI技术，我们希望打造一款真正“易用、智能”的个人饮食管理工具，让健康饮食变得简单。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508500" y="2667000"/>
            <a:ext cx="3175000" cy="2631989"/>
          </a:xfrm>
          <a:prstGeom prst="roundRect">
            <a:avLst>
              <a:gd name="adj" fmla="val 57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711700" y="29210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5143500" y="2882900"/>
            <a:ext cx="2286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探索之旅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711700" y="3632200"/>
            <a:ext cx="2768600" cy="1206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8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这不仅是一次课程作业，更是一段成长与蜕变。从“编程小白”到掌握新技术，我们在攻克难题中体会创造的乐趣，在磨合中感受团队协作的力量。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01000" y="2667000"/>
            <a:ext cx="3175000" cy="2631989"/>
          </a:xfrm>
          <a:prstGeom prst="roundRect">
            <a:avLst>
              <a:gd name="adj" fmla="val 57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204200" y="29210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8636000" y="2882900"/>
            <a:ext cx="2286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特别致谢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204200" y="3492500"/>
            <a:ext cx="2768600" cy="1206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8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感谢老师一路以来的悉心指导与包容，让我们少走了许多弯路；感谢各位同学的耐心聆听与宝贵建议，让“食光智语”变得更好。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0" y="5207000"/>
            <a:ext cx="12192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感谢聆听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0" y="6223000"/>
            <a:ext cx="12192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欢迎各位老师和同学批评指正 · 随时准备回答您的问题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jFmZWIzNDg2MmIzZjExOTIzMmViNTBmYTMwYTk0ZWY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3780</Words>
  <Application>WPS 演示</Application>
  <PresentationFormat/>
  <Paragraphs>230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宋体</vt:lpstr>
      <vt:lpstr>Wingdings</vt:lpstr>
      <vt:lpstr>Arial</vt:lpstr>
      <vt:lpstr>Noto Sans SC</vt:lpstr>
      <vt:lpstr>Songti SC</vt:lpstr>
      <vt:lpstr>AMGDT</vt:lpstr>
      <vt:lpstr>微软雅黑</vt:lpstr>
      <vt:lpstr>Arial Unicode MS</vt:lpstr>
      <vt:lpstr>Office 主题​​</vt:lpstr>
      <vt:lpstr>默认主题</vt:lpstr>
      <vt:lpstr>1_默认主题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WPS_1695475144</cp:lastModifiedBy>
  <cp:revision>3</cp:revision>
  <dcterms:created xsi:type="dcterms:W3CDTF">2026-05-22T14:17:00Z</dcterms:created>
  <dcterms:modified xsi:type="dcterms:W3CDTF">2026-05-22T14:54:36Z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A0FB3C6054B34BDC94E8FA3176F3EEFA_13</vt:lpwstr>
  </property>
  <property fmtid="{D5CDD505-2E9C-101B-9397-08002B2CF9AE}" pid="3" name="KSOProductBuildVer">
    <vt:lpwstr>2052-12.1.0.16388</vt:lpwstr>
  </property>
</Properties>
</file>